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749807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DA4AF"/>
                </a:solidFill>
                <a:latin typeface="Arial"/>
              </a:defRPr>
            </a:pPr>
            <a:r>
              <a:t>DIPLOMA MAJOR PROJECT VIVA PRESENTATION</a:t>
            </a:r>
          </a:p>
          <a:p>
            <a:pPr>
              <a:spcAft>
                <a:spcPts val="6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ProBot AI — Professional Research Bot</a:t>
            </a:r>
          </a:p>
          <a:p>
            <a:pPr>
              <a:spcAft>
                <a:spcPts val="2200"/>
              </a:spcAft>
              <a:defRPr sz="1500" i="1">
                <a:solidFill>
                  <a:srgbClr val="FDA4AF"/>
                </a:solidFill>
                <a:latin typeface="Calibri"/>
              </a:defRPr>
            </a:pPr>
            <a:r>
              <a:t>An On-Device Intelligent Research Assistant &amp; Study Library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Presented by: DHRUV MITTAL  (Roll No: 2024/364)</a:t>
            </a:r>
          </a:p>
          <a:p>
            <a:pPr>
              <a:spcAft>
                <a:spcPts val="1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Department of Computer Science and Engineering | Thapar Polytechnic College, Patiala</a:t>
            </a:r>
          </a:p>
          <a:p>
            <a:pPr>
              <a:defRPr sz="1200" b="1">
                <a:solidFill>
                  <a:srgbClr val="FDA4AF"/>
                </a:solidFill>
                <a:latin typeface="Calibri"/>
              </a:defRPr>
            </a:pPr>
            <a:r>
              <a:t>Project Mentors: Er. Ankur Thakur | Er. Harjeet Singh | Dr. Kirandeep Kaur | Er. Ashita Sharma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1188720"/>
            <a:ext cx="2286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37160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1E24"/>
          </a:solidFill>
          <a:ln>
            <a:solidFill>
              <a:srgbClr val="1E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A4AF"/>
                </a:solidFill>
                <a:latin typeface="Arial"/>
              </a:defRPr>
            </a:pPr>
            <a:r>
              <a:t>PROBOT AI — MAJOR PROJECT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1. Real-World Challenges Facing Students &amp; Researchers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Scattered Study Notes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: </a:t>
            </a:r>
            <a:r>
              <a:rPr b="0">
                <a:solidFill>
                  <a:srgbClr val="1E293B"/>
                </a:solidFill>
              </a:rPr>
              <a:t>Students end up with dozens of open browser tabs, downloaded PDFs, and quick text notes, making it hard to find key information later.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5448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Cloud Privacy Risks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: </a:t>
            </a:r>
            <a:r>
              <a:rPr b="0">
                <a:solidFill>
                  <a:srgbClr val="1E293B"/>
                </a:solidFill>
              </a:rPr>
              <a:t>Commercial AI chatbots upload user documents and private queries to cloud servers, creating data privacy and security risks.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11480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Internet Dependence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: </a:t>
            </a:r>
            <a:r>
              <a:rPr b="0">
                <a:solidFill>
                  <a:srgbClr val="1E293B"/>
                </a:solidFill>
              </a:rPr>
              <a:t>Standard cloud AI platforms stop working completely whenever you don't have an active, high-speed internet connection.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411480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Keyword Search Limits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: </a:t>
            </a:r>
            <a:r>
              <a:rPr b="0">
                <a:solidFill>
                  <a:srgbClr val="1E293B"/>
                </a:solidFill>
              </a:rPr>
              <a:t>Traditional search engines match exact literal words rather than understanding what your query actually means.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1E24"/>
          </a:solidFill>
          <a:ln>
            <a:solidFill>
              <a:srgbClr val="1E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A4AF"/>
                </a:solidFill>
                <a:latin typeface="Arial"/>
              </a:defRPr>
            </a:pPr>
            <a:r>
              <a:t>PROBOT AI — MAJOR PROJECT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2. ProBot AI: The Smart On-Device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14600" cy="914400"/>
          </a:xfrm>
          <a:prstGeom prst="roundRect">
            <a:avLst/>
          </a:prstGeom>
          <a:solidFill>
            <a:srgbClr val="1E1E24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400">
                <a:solidFill>
                  <a:srgbClr val="FDA4AF"/>
                </a:solidFill>
                <a:latin typeface="Arial"/>
              </a:defRPr>
            </a:pPr>
            <a:r>
              <a:t>100% Offline</a:t>
            </a:r>
          </a:p>
          <a:p>
            <a:pPr algn="ctr">
              <a:defRPr sz="1000">
                <a:solidFill>
                  <a:srgbClr val="F1F5F9"/>
                </a:solidFill>
                <a:latin typeface="Calibri"/>
              </a:defRPr>
            </a:pPr>
            <a:r>
              <a:t>Runs completely on your laptop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280160"/>
            <a:ext cx="2514600" cy="914400"/>
          </a:xfrm>
          <a:prstGeom prst="roundRect">
            <a:avLst/>
          </a:prstGeom>
          <a:solidFill>
            <a:srgbClr val="1E1E24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32588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400">
                <a:solidFill>
                  <a:srgbClr val="FDA4AF"/>
                </a:solidFill>
                <a:latin typeface="Arial"/>
              </a:defRPr>
            </a:pPr>
            <a:r>
              <a:t>$0 API Fees</a:t>
            </a:r>
          </a:p>
          <a:p>
            <a:pPr algn="ctr">
              <a:defRPr sz="1000">
                <a:solidFill>
                  <a:srgbClr val="F1F5F9"/>
                </a:solidFill>
                <a:latin typeface="Calibri"/>
              </a:defRPr>
            </a:pPr>
            <a:r>
              <a:t>No subscriptions or token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280160"/>
            <a:ext cx="2514600" cy="914400"/>
          </a:xfrm>
          <a:prstGeom prst="roundRect">
            <a:avLst/>
          </a:prstGeom>
          <a:solidFill>
            <a:srgbClr val="1E1E24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1344" y="132588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400">
                <a:solidFill>
                  <a:srgbClr val="FDA4AF"/>
                </a:solidFill>
                <a:latin typeface="Arial"/>
              </a:defRPr>
            </a:pPr>
            <a:r>
              <a:t>&lt;100ms Search</a:t>
            </a:r>
          </a:p>
          <a:p>
            <a:pPr algn="ctr">
              <a:defRPr sz="1000">
                <a:solidFill>
                  <a:srgbClr val="F1F5F9"/>
                </a:solidFill>
                <a:latin typeface="Calibri"/>
              </a:defRPr>
            </a:pPr>
            <a:r>
              <a:t>Instant vector search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280160"/>
            <a:ext cx="2514600" cy="914400"/>
          </a:xfrm>
          <a:prstGeom prst="roundRect">
            <a:avLst/>
          </a:prstGeom>
          <a:solidFill>
            <a:srgbClr val="1E1E24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6256" y="132588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400">
                <a:solidFill>
                  <a:srgbClr val="FDA4AF"/>
                </a:solidFill>
                <a:latin typeface="Arial"/>
              </a:defRPr>
            </a:pPr>
            <a:r>
              <a:t>Zero Data Egress</a:t>
            </a:r>
          </a:p>
          <a:p>
            <a:pPr algn="ctr">
              <a:defRPr sz="1000">
                <a:solidFill>
                  <a:srgbClr val="F1F5F9"/>
                </a:solidFill>
                <a:latin typeface="Calibri"/>
              </a:defRPr>
            </a:pPr>
            <a:r>
              <a:t>Your files never leave your PC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77440"/>
            <a:ext cx="51206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560320"/>
            <a:ext cx="4718304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Privacy &amp; Search Features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Total Privacy Protection: </a:t>
            </a:r>
            <a:r>
              <a:rPr b="0">
                <a:solidFill>
                  <a:srgbClr val="1E293B"/>
                </a:solidFill>
              </a:rPr>
              <a:t>100% of your documents, notes, and questions stay safely on your computer.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Smart Context Search: </a:t>
            </a:r>
            <a:r>
              <a:rPr b="0">
                <a:solidFill>
                  <a:srgbClr val="1E293B"/>
                </a:solidFill>
              </a:rPr>
              <a:t>Uses dense vector embeddings to match the meaning of your query, not just exact words.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Multi-Source Ingestion: </a:t>
            </a:r>
            <a:r>
              <a:rPr b="0">
                <a:solidFill>
                  <a:srgbClr val="1E293B"/>
                </a:solidFill>
              </a:rPr>
              <a:t>Easily fetches Wikipedia articles and parses local multi-page PDF documents.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77440"/>
            <a:ext cx="51206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560320"/>
            <a:ext cx="4718304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AI &amp; Study Helper Tools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Local AI Chat Assistant: </a:t>
            </a:r>
            <a:r>
              <a:rPr b="0">
                <a:solidFill>
                  <a:srgbClr val="1E293B"/>
                </a:solidFill>
              </a:rPr>
              <a:t>Integrates Ollama (Llama 3 / Phi-3) to answer questions directly from your notes.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Automated Study Notes: </a:t>
            </a:r>
            <a:r>
              <a:rPr b="0">
                <a:solidFill>
                  <a:srgbClr val="1E293B"/>
                </a:solidFill>
              </a:rPr>
              <a:t>Uses SpaCy to automatically extract main topics, write summaries, and make flashcards.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Topological Concept Maps: </a:t>
            </a:r>
            <a:r>
              <a:rPr b="0">
                <a:solidFill>
                  <a:srgbClr val="1E293B"/>
                </a:solidFill>
              </a:rPr>
              <a:t>Generates visual concept maps showing how different topics connect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1E24"/>
          </a:solidFill>
          <a:ln>
            <a:solidFill>
              <a:srgbClr val="1E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A4AF"/>
                </a:solidFill>
                <a:latin typeface="Arial"/>
              </a:defRPr>
            </a:pPr>
            <a:r>
              <a:t>PROBOT AI — MAJOR PROJECT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3. How ProBot AI Works: 5-Layer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11D48"/>
                </a:solidFill>
                <a:latin typeface="Arial"/>
              </a:rPr>
              <a:t>Layer 1: Document Ingestion  </a:t>
            </a:r>
            <a:r>
              <a:rPr b="1" sz="1100">
                <a:solidFill>
                  <a:srgbClr val="F43F5E"/>
                </a:solidFill>
                <a:latin typeface="Consolas"/>
              </a:rPr>
              <a:t>[downloader.py &amp; pdf_reader.py]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Downloads Wikipedia body text &amp; parses local PDF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59152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11D48"/>
                </a:solidFill>
                <a:latin typeface="Arial"/>
              </a:rPr>
              <a:t>Layer 2: Dense Vector Engine  </a:t>
            </a:r>
            <a:r>
              <a:rPr b="1" sz="1100">
                <a:solidFill>
                  <a:srgbClr val="F43F5E"/>
                </a:solidFill>
                <a:latin typeface="Consolas"/>
              </a:rPr>
              <a:t>[semantic_search.py]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Converts text into 384-dimensional vectors for fast semantic matching.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46704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38144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11D48"/>
                </a:solidFill>
                <a:latin typeface="Arial"/>
              </a:rPr>
              <a:t>Layer 3: NLP Note Synthesizer  </a:t>
            </a:r>
            <a:r>
              <a:rPr b="1" sz="1100">
                <a:solidFill>
                  <a:srgbClr val="F43F5E"/>
                </a:solidFill>
                <a:latin typeface="Consolas"/>
              </a:rPr>
              <a:t>[notes_generator.py &amp; intent_engine.py]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Extracts key topics, makes summaries, builds flashcards &amp; concept maps.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34256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25696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11D48"/>
                </a:solidFill>
                <a:latin typeface="Arial"/>
              </a:rPr>
              <a:t>Layer 4: Local AI Assistant Core  </a:t>
            </a:r>
            <a:r>
              <a:rPr b="1" sz="1100">
                <a:solidFill>
                  <a:srgbClr val="F43F5E"/>
                </a:solidFill>
                <a:latin typeface="Consolas"/>
              </a:rPr>
              <a:t>[ai_assistant.py (Ollama)]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Uses Ollama (Llama 3 / Phi-3) to generate grounded AI answers offline.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21808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13248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11D48"/>
                </a:solidFill>
                <a:latin typeface="Arial"/>
              </a:rPr>
              <a:t>Layer 5: User Interface &amp; Database  </a:t>
            </a:r>
            <a:r>
              <a:rPr b="1" sz="1100">
                <a:solidFill>
                  <a:srgbClr val="F43F5E"/>
                </a:solidFill>
                <a:latin typeface="Consolas"/>
              </a:rPr>
              <a:t>[gui.py &amp; database.py]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Clean CustomTkinter desktop dashboard powered by a local SQLite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1E24"/>
          </a:solidFill>
          <a:ln>
            <a:solidFill>
              <a:srgbClr val="1E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A4AF"/>
                </a:solidFill>
                <a:latin typeface="Arial"/>
              </a:defRPr>
            </a:pPr>
            <a:r>
              <a:t>PROBOT AI — MAJOR PROJECT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4. Key Features Made for Students &amp; Researchers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Offline Study Library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Centralized Storage: </a:t>
            </a:r>
            <a:r>
              <a:rPr b="0">
                <a:solidFill>
                  <a:srgbClr val="1E293B"/>
                </a:solidFill>
              </a:rPr>
              <a:t>Keeps all your saved articles and notes in one place.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Category Tags: </a:t>
            </a:r>
            <a:r>
              <a:rPr b="0">
                <a:solidFill>
                  <a:srgbClr val="1E293B"/>
                </a:solidFill>
              </a:rPr>
              <a:t>Organizes articles by topic and subject domain.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Instant Filtering: </a:t>
            </a:r>
            <a:r>
              <a:rPr b="0">
                <a:solidFill>
                  <a:srgbClr val="1E293B"/>
                </a:solidFill>
              </a:rPr>
              <a:t>Search through your library in less than a second.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5448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Auto Notes &amp; Flashcards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Key Entity Extractor: </a:t>
            </a:r>
            <a:r>
              <a:rPr b="0">
                <a:solidFill>
                  <a:srgbClr val="1E293B"/>
                </a:solidFill>
              </a:rPr>
              <a:t>Automatically highlights key terms, dates, &amp; names.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Summary Creator: </a:t>
            </a:r>
            <a:r>
              <a:rPr b="0">
                <a:solidFill>
                  <a:srgbClr val="1E293B"/>
                </a:solidFill>
              </a:rPr>
              <a:t>Generates concise summaries of long articles.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Study Flashcards: </a:t>
            </a:r>
            <a:r>
              <a:rPr b="0">
                <a:solidFill>
                  <a:srgbClr val="1E293B"/>
                </a:solidFill>
              </a:rPr>
              <a:t>Creates Q&amp;A cards for active recall revision.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11480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Visual Concept Mapping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Topic Connection Map: </a:t>
            </a:r>
            <a:r>
              <a:rPr b="0">
                <a:solidFill>
                  <a:srgbClr val="1E293B"/>
                </a:solidFill>
              </a:rPr>
              <a:t>Displays clean visual trees showing topic links.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Dependency Graphs: </a:t>
            </a:r>
            <a:r>
              <a:rPr b="0">
                <a:solidFill>
                  <a:srgbClr val="1E293B"/>
                </a:solidFill>
              </a:rPr>
              <a:t>Helps you see how complex ideas connect together.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Save to Notes: </a:t>
            </a:r>
            <a:r>
              <a:rPr b="0">
                <a:solidFill>
                  <a:srgbClr val="1E293B"/>
                </a:solidFill>
              </a:rPr>
              <a:t>Attach concept maps straight to your research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411480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One-Click Citations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: </a:t>
            </a:r>
            <a:r>
              <a:rPr b="0">
                <a:solidFill>
                  <a:srgbClr val="1E293B"/>
                </a:solidFill>
              </a:rPr>
              <a:t>Generates clean academic references (APA &amp; IEEE style) automatically so you never lose track of source credits.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1E24"/>
          </a:solidFill>
          <a:ln>
            <a:solidFill>
              <a:srgbClr val="1E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A4AF"/>
                </a:solidFill>
                <a:latin typeface="Arial"/>
              </a:defRPr>
            </a:pPr>
            <a:r>
              <a:t>PROBOT AI — MAJOR PROJECT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5. Technology Stack &amp; Key Software Libraries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657600"/>
                <a:gridCol w="4510735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Subsystem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Technology Used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Role in ProBot AI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Desktop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CustomTkinter v5.2.2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Provides a modern desktop interface with clean Dark and Light appearance modes.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Semantic Vector 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SentenceTransformers (all-MiniLM-L6-v2)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Converts text into 384-dimensional vectors for instant, context-aware query matching.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NLP &amp; Summary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SpaCy (en_core_web_sm)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Extracts key entities, dates, and names, and organizes structured text summaries.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Offline AI Assistant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Ollama (Llama 3 / Phi-3 Mini)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Runs open-source AI models directly on your laptop without any cloud API keys.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Database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SQLite3 (WAL Mode Enabled)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Lightweight, reliable local file database that saves your entire research library.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Document Parsers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1D48"/>
                          </a:solidFill>
                          <a:latin typeface="Calibri"/>
                        </a:defRPr>
                      </a:pPr>
                      <a:r>
                        <a:t>PyPDF2 &amp; BeautifulSoup4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Extracts text from multi-page PDFs and parses online Wikipedia articles clean of clutter.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1E24"/>
          </a:solidFill>
          <a:ln>
            <a:solidFill>
              <a:srgbClr val="1E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A4AF"/>
                </a:solidFill>
                <a:latin typeface="Arial"/>
              </a:defRPr>
            </a:pPr>
            <a:r>
              <a:t>PROBOT AI — MAJOR PROJECT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6. Step-by-Step User Workflow: From Search to Citations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568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7739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E11D48"/>
                </a:solidFill>
                <a:latin typeface="Arial"/>
              </a:defRPr>
            </a:pPr>
            <a:r>
              <a:t>1. Add Material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Search Wikipedia or upload local PDF documents into the desktop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19568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828800"/>
            <a:ext cx="17739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E11D48"/>
                </a:solidFill>
                <a:latin typeface="Arial"/>
              </a:defRPr>
            </a:pPr>
            <a:r>
              <a:t>2. Smart Indexing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Text is automatically split into passages and converted into smart search vectors.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45920"/>
            <a:ext cx="19568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828800"/>
            <a:ext cx="17739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E11D48"/>
                </a:solidFill>
                <a:latin typeface="Arial"/>
              </a:defRPr>
            </a:pPr>
            <a:r>
              <a:t>3. Auto Synthesis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System extracts key topics, summary notes, flashcards, &amp; concept maps.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645920"/>
            <a:ext cx="19568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828800"/>
            <a:ext cx="17739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E11D48"/>
                </a:solidFill>
                <a:latin typeface="Arial"/>
              </a:defRPr>
            </a:pPr>
            <a:r>
              <a:t>4. Ask Local AI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Chat with the offline AI assistant; it answers directly using your saved notes.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645920"/>
            <a:ext cx="19568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828800"/>
            <a:ext cx="17739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E11D48"/>
                </a:solidFill>
                <a:latin typeface="Arial"/>
              </a:defRPr>
            </a:pPr>
            <a:r>
              <a:t>5. Export Pack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Save your complete research pack and formatted citations to a document.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1E24"/>
          </a:solidFill>
          <a:ln>
            <a:solidFill>
              <a:srgbClr val="1E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A4AF"/>
                </a:solidFill>
                <a:latin typeface="Arial"/>
              </a:defRPr>
            </a:pPr>
            <a:r>
              <a:t>PROBOT AI — MAJOR PROJECT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7. System Testing &amp; Practical Results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2834640"/>
                <a:gridCol w="3047695"/>
                <a:gridCol w="1188720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 Tested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User Action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 Observed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onsolas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Wikipedia Article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Download Wikipedia article &amp; thumbnail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Article body stored cleanly in local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onsolas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Vector Semantic 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Execute cosine similarity query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Instant sub-100ms retrieval of relevant passages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onsolas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Offline AI Chat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Ask local Ollama AI model a question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Grounded answer generated using saved 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onsolas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PDF Document Parsing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Upload multi-page research PDF file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Text extracted and indexed for smart 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onsolas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APA / IEEE Citation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Click citation generator 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Formatted academic reference created instantly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1E24"/>
          </a:solidFill>
          <a:ln>
            <a:solidFill>
              <a:srgbClr val="1E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A4AF"/>
                </a:solidFill>
                <a:latin typeface="Arial"/>
              </a:defRPr>
            </a:pPr>
            <a:r>
              <a:t>PROBOT AI — MAJOR PROJECT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8. How ProBot AI Compares to Online Search &amp; Cloud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615"/>
                <a:gridCol w="2560320"/>
                <a:gridCol w="2743200"/>
                <a:gridCol w="3017520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Traditional Web Search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Cloud AI (ChatGPT)</a:t>
                      </a:r>
                    </a:p>
                  </a:txBody>
                  <a:tcPr>
                    <a:solidFill>
                      <a:srgbClr val="1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ProBot AI Desktop</a:t>
                      </a:r>
                    </a:p>
                  </a:txBody>
                  <a:tcPr>
                    <a:solidFill>
                      <a:srgbClr val="E11D4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 Privacy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Risk (Public Internet)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Privacy Risk (Cloud Egress)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100% Private (Stored on your PC)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Offline Support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Requires Internet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Requires Internet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Works 100% Offline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Subscription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Free with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Paid Tier / Token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$0 Free Forever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Answer 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Web Links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Can make up fake facts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Strictly verified using your files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Search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Exact Keywords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Cloud AI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Smart Vector Meaning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Note Synthesis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Manual Copy/Paste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Generic Summaries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SpaCy Entities &amp; Concept Maps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1E24"/>
          </a:solidFill>
          <a:ln>
            <a:solidFill>
              <a:srgbClr val="1E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A4AF"/>
                </a:solidFill>
                <a:latin typeface="Arial"/>
              </a:defRPr>
            </a:pPr>
            <a:r>
              <a:t>PROBOT AI — MAJOR PROJECT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9. Software Quality Highlights (ISO/IEC 25010 Standard)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Functional &amp; Accurate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Complete Pipeline: </a:t>
            </a:r>
            <a:r>
              <a:rPr b="0">
                <a:solidFill>
                  <a:srgbClr val="1E293B"/>
                </a:solidFill>
              </a:rPr>
              <a:t>Seamlessly connects search, vector index, &amp; local AI chat.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No Hallucination: </a:t>
            </a:r>
            <a:r>
              <a:rPr b="0">
                <a:solidFill>
                  <a:srgbClr val="1E293B"/>
                </a:solidFill>
              </a:rPr>
              <a:t>Answers are strictly grounded in your actual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5448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Fast &amp; Lightweight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Instant Vector Search: </a:t>
            </a:r>
            <a:r>
              <a:rPr b="0">
                <a:solidFill>
                  <a:srgbClr val="1E293B"/>
                </a:solidFill>
              </a:rPr>
              <a:t>Search results appear in under 100 milliseconds.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Low Memory Usage: </a:t>
            </a:r>
            <a:r>
              <a:rPr b="0">
                <a:solidFill>
                  <a:srgbClr val="1E293B"/>
                </a:solidFill>
              </a:rPr>
              <a:t>Runs smoothly on standard student laptops.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11480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Complete Data Security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100% On-Device: </a:t>
            </a:r>
            <a:r>
              <a:rPr b="0">
                <a:solidFill>
                  <a:srgbClr val="1E293B"/>
                </a:solidFill>
              </a:rPr>
              <a:t>No personal data, queries, or notes are uploaded.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No Network Leaks: </a:t>
            </a:r>
            <a:r>
              <a:rPr b="0">
                <a:solidFill>
                  <a:srgbClr val="1E293B"/>
                </a:solidFill>
              </a:rPr>
              <a:t>Operates with total peace of mind for private 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411480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User-Friendly Design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Clean Modern UI: </a:t>
            </a:r>
            <a:r>
              <a:rPr b="0">
                <a:solidFill>
                  <a:srgbClr val="1E293B"/>
                </a:solidFill>
              </a:rPr>
              <a:t>CustomTkinter interface with dark and light themes.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Cross-Platform: </a:t>
            </a:r>
            <a:r>
              <a:rPr b="0">
                <a:solidFill>
                  <a:srgbClr val="1E293B"/>
                </a:solidFill>
              </a:rPr>
              <a:t>Works easily on Windows, macOS, and Linux PCs.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1E24"/>
          </a:solidFill>
          <a:ln>
            <a:solidFill>
              <a:srgbClr val="1E1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A4AF"/>
                </a:solidFill>
                <a:latin typeface="Arial"/>
              </a:defRPr>
            </a:pPr>
            <a:r>
              <a:t>PROBOT AI — MAJOR PROJECT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10. Conclusion &amp; Future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4718304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Key Project Achievements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Private Research Assistant: </a:t>
            </a:r>
            <a:r>
              <a:rPr b="0">
                <a:solidFill>
                  <a:srgbClr val="1E293B"/>
                </a:solidFill>
              </a:rPr>
              <a:t>Built a complete desktop AI research app tailored for students.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100% Offline &amp; Free: </a:t>
            </a:r>
            <a:r>
              <a:rPr b="0">
                <a:solidFill>
                  <a:srgbClr val="1E293B"/>
                </a:solidFill>
              </a:rPr>
              <a:t>Protects privacy and operates fully offline with zero subscription costs.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Smart Vector Search: </a:t>
            </a:r>
            <a:r>
              <a:rPr b="0">
                <a:solidFill>
                  <a:srgbClr val="1E293B"/>
                </a:solidFill>
              </a:rPr>
              <a:t>Uses dense vector embeddings so search understands meaning, not just words.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Study-Ready Output: </a:t>
            </a:r>
            <a:r>
              <a:rPr b="0">
                <a:solidFill>
                  <a:srgbClr val="1E293B"/>
                </a:solidFill>
              </a:rPr>
              <a:t>Automatically generates notes, flashcards, concept maps, and citations.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54480"/>
            <a:ext cx="4718304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11D48"/>
                </a:solidFill>
                <a:latin typeface="Arial"/>
              </a:defRPr>
            </a:pPr>
            <a:r>
              <a:t>Future Roadmap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Textbook OCR Scanning: </a:t>
            </a:r>
            <a:r>
              <a:rPr b="0">
                <a:solidFill>
                  <a:srgbClr val="1E293B"/>
                </a:solidFill>
              </a:rPr>
              <a:t>Add image-to-text scanning for printed textbook pages.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GPU Acceleration: </a:t>
            </a:r>
            <a:r>
              <a:rPr b="0">
                <a:solidFill>
                  <a:srgbClr val="1E293B"/>
                </a:solidFill>
              </a:rPr>
              <a:t>Add PyTorch CUDA acceleration for ultra-fast multi-GB indexing.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3D Concept Graphs: </a:t>
            </a:r>
            <a:r>
              <a:rPr b="0">
                <a:solidFill>
                  <a:srgbClr val="1E293B"/>
                </a:solidFill>
              </a:rPr>
              <a:t>Replace ASCII maps with interactive 3D visual graph node trees.</a:t>
            </a:r>
          </a:p>
          <a:p>
            <a:pPr>
              <a:spcAft>
                <a:spcPts val="600"/>
              </a:spcAft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Voice Summaries: </a:t>
            </a:r>
            <a:r>
              <a:rPr b="0">
                <a:solidFill>
                  <a:srgbClr val="1E293B"/>
                </a:solidFill>
              </a:rPr>
              <a:t>Add text-to-speech audio playback to listen to summary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